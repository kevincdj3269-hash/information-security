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7"/>
  </p:notesMasterIdLst>
  <p:sldIdLst>
    <p:sldId id="272" r:id="rId2"/>
    <p:sldId id="256" r:id="rId3"/>
    <p:sldId id="259" r:id="rId4"/>
    <p:sldId id="278" r:id="rId5"/>
    <p:sldId id="279" r:id="rId6"/>
    <p:sldId id="260" r:id="rId7"/>
    <p:sldId id="261" r:id="rId8"/>
    <p:sldId id="262" r:id="rId9"/>
    <p:sldId id="263" r:id="rId10"/>
    <p:sldId id="283" r:id="rId11"/>
    <p:sldId id="264" r:id="rId12"/>
    <p:sldId id="265" r:id="rId13"/>
    <p:sldId id="266" r:id="rId14"/>
    <p:sldId id="267" r:id="rId15"/>
    <p:sldId id="280" r:id="rId16"/>
    <p:sldId id="268" r:id="rId17"/>
    <p:sldId id="269" r:id="rId18"/>
    <p:sldId id="270" r:id="rId19"/>
    <p:sldId id="282" r:id="rId20"/>
    <p:sldId id="276" r:id="rId21"/>
    <p:sldId id="273" r:id="rId22"/>
    <p:sldId id="277" r:id="rId23"/>
    <p:sldId id="274" r:id="rId24"/>
    <p:sldId id="275" r:id="rId25"/>
    <p:sldId id="271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1C732-EE8F-484E-91FD-4C96E9C058A2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C5490-E0B4-41DB-9E16-35D2A2680E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937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AC5490-E0B4-41DB-9E16-35D2A2680EB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280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 userDrawn="1"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 userDrawn="1"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 userDrawn="1"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 userDrawn="1"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 userDrawn="1"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8B317208-2CB7-4079-9468-9C061E707296}" type="datetime1">
              <a:rPr lang="zh-TW" altLang="en-US" smtClean="0"/>
              <a:t>2026/3/9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28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55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66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9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26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40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21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84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29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37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898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85EF3C-CDDC-45FE-8849-C4B38A663296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330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 userDrawn="1"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 userDrawn="1"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 userDrawn="1"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5CD83D4E-F72A-46D1-9C2F-9CF0BFE14B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44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2600" baseline="0" dirty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02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章 電子商務安全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0070C0"/>
                </a:solidFill>
              </a:rPr>
              <a:t>JIAJIE CHIANG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C70B6-B65A-41E8-BD3E-61B037D3411A}" type="datetime1">
              <a:rPr lang="zh-TW" altLang="en-US" smtClean="0"/>
              <a:t>2026/3/9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79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02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章 電子商務安全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電子商務依賴網路進行交易，電子商務安全日益受到重視。本章介紹的內容包含：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電子商務簡介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電子商務特性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電子商務種類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電子商務流程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電子商務安全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付款機制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kern="100" dirty="0">
                <a:latin typeface="Arial"/>
                <a:ea typeface="標楷體"/>
              </a:rPr>
              <a:t>認證標章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B457-6DED-4A5B-BDE7-735184B0E59B}" type="datetime1">
              <a:rPr lang="zh-TW" altLang="en-US" smtClean="0"/>
              <a:t>2026/3/9</a:t>
            </a:fld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883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2.1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電子商務簡介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electronic commerce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是應用網際網路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the Internet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、企業網路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intranet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和加值網路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value added network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與資訊技術，以進行交易活動以及提供服務。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電子商務的發展，簡要敘述如下：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從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1970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年代起，使用電子資金轉換就已開啟電子商務時代，後續並推展電子資料交換、電子郵件應用等。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到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1990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年代，由於全球資訊網之發展，使得電子商務進入蓬勃發展的年代，並且不斷地快速成長。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到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2000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年，歷經網路泡沫化後，電子商務開始進入理性發展。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近年來，網路購物族群大幅增加，電子商務大幅成長。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18AE-35F1-4A83-B076-6603C29CA057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68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電子商務的本質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2-1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所示，電子商務的本質是結合資訊網路科技與商業模式，採用資訊技術進行各種交易與服務。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傳統商務受到時間與空間的限制，必須要有店面及營業時間；電子商務則不受時間的限制，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24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小時皆可以上網購物，也不受空間的影響。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電子商務蓬勃發展，電子商務安全也日益受到重視，網路一旦受到安全威脅，電子商務也將遭受到嚴重的損失。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F61E6-6A77-409D-B36D-DCBCEAD6B6CC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2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79912" y="4149080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2-1 </a:t>
            </a:r>
            <a:r>
              <a:rPr lang="zh-TW" altLang="zh-TW" dirty="0"/>
              <a:t>電子商務本質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5DE4-3C24-4420-9A1B-45DAFDFF9015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1026" name="Picture 2" descr="圖片2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31" y="2492896"/>
            <a:ext cx="5817118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209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2.2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電子商務特性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電子商務是一種新的經濟模式，在管理、政策、銷售、獲利等模式皆需要新的觀念與新的作為，經營者需要重新檢視與制定其經營策略。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電子商務需要具有下列特性：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普遍性：凡是能上網的地方皆有電子商務的存在。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方便性：它減少了實體文書的往返，交易具有立即性。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信賴性：買方與賣方信任關係的需求比傳統商務更強。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安全性：透過網路購物，需要安全的交易。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協調性：需要很好協調性，以確保商務流程之順利進行。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虛擬化：商品不需實體擺設，僅有虛擬商場及虛擬產品。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標準化：商務網站漸漸趨向於一致化的商務流程</a:t>
            </a:r>
          </a:p>
          <a:p>
            <a:pPr marR="0" lvl="1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專業化：資訊流、物流與金流形成許多專業分工的行業。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703FB-0626-4585-978A-9986DC782314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85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2.3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電子商務種類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以交易對象分類：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B2C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C2C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、與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等。</a:t>
            </a:r>
          </a:p>
          <a:p>
            <a:pPr marR="0" lvl="1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(1) B2C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：企業對消費者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business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to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customer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B2C 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電子商務模式，是企業對一般消費者的電子商務，例如，入口網站、線上遊戲、線上購物等。</a:t>
            </a:r>
          </a:p>
          <a:p>
            <a:pPr marR="0" lvl="1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(2) B2B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：企業對企業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business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to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business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B2C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的電子商務，例如，企業間的整合運作、上下游企業、供應鏈、企業客戶服務等。</a:t>
            </a:r>
          </a:p>
          <a:p>
            <a:pPr lvl="1"/>
            <a:r>
              <a:rPr lang="en-US" altLang="zh-TW" b="1" i="0" u="none" strike="noStrike" kern="100" baseline="0" dirty="0">
                <a:latin typeface="Arial"/>
                <a:ea typeface="標楷體"/>
              </a:rPr>
              <a:t>(3) C2B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：消費者對企業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customer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to business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的電子商務模式</a:t>
            </a:r>
            <a:r>
              <a:rPr lang="zh-TW" altLang="en-US" b="1" kern="100" dirty="0">
                <a:latin typeface="Arial"/>
              </a:rPr>
              <a:t>，是指消費者聚合需求的力量以引導商家提供合適的服務或商品，例如，集體採購。</a:t>
            </a:r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1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(4) C2C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：消費者對消費者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customer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to customer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C2C 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的電子商務模式，例如：拍賣網站。</a:t>
            </a:r>
          </a:p>
          <a:p>
            <a:pPr marR="0" lvl="1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(5) O2O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：線上對離線（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online to offline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）電子商務模式，是指線上行銷及線上購買帶動非網路上的實體經營與消費。例如，餐飲折價券、電影優待票等。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A8068-C588-4A20-B51F-D6387AC7D312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84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2600" baseline="0">
                <a:latin typeface="Arial"/>
                <a:ea typeface="標楷體"/>
              </a:rPr>
              <a:t>2.3.1 B2C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kern="100" dirty="0">
                <a:latin typeface="Arial"/>
              </a:rPr>
              <a:t>成功的電子商務網站，通常具備下列特質：</a:t>
            </a:r>
          </a:p>
          <a:p>
            <a:pPr lvl="0"/>
            <a:r>
              <a:rPr lang="zh-TW" altLang="en-US" b="1" kern="100" dirty="0">
                <a:latin typeface="Arial"/>
              </a:rPr>
              <a:t>	適當的目錄歸類，簡易的資料搜尋功能。</a:t>
            </a:r>
          </a:p>
          <a:p>
            <a:pPr lvl="0"/>
            <a:r>
              <a:rPr lang="zh-TW" altLang="en-US" b="1" kern="100" dirty="0">
                <a:latin typeface="Arial"/>
              </a:rPr>
              <a:t>	充實的內容，提供網友使用。</a:t>
            </a:r>
          </a:p>
          <a:p>
            <a:pPr lvl="0"/>
            <a:r>
              <a:rPr lang="zh-TW" altLang="en-US" b="1" kern="100" dirty="0">
                <a:latin typeface="Arial"/>
              </a:rPr>
              <a:t>	提供便利的購物商場服務。</a:t>
            </a:r>
          </a:p>
          <a:p>
            <a:pPr lvl="0"/>
            <a:r>
              <a:rPr lang="zh-TW" altLang="en-US" b="1" kern="100" dirty="0">
                <a:latin typeface="Arial"/>
              </a:rPr>
              <a:t>	完整的通訊、物流與金流服務。</a:t>
            </a:r>
          </a:p>
          <a:p>
            <a:pPr lvl="0"/>
            <a:r>
              <a:rPr lang="zh-TW" altLang="en-US" b="1" kern="100" dirty="0">
                <a:latin typeface="Arial"/>
              </a:rPr>
              <a:t>	提供購物之及時訊息服務。</a:t>
            </a:r>
          </a:p>
          <a:p>
            <a:pPr lvl="0"/>
            <a:r>
              <a:rPr lang="zh-TW" altLang="en-US" b="1" kern="100" dirty="0">
                <a:latin typeface="Arial"/>
              </a:rPr>
              <a:t>	創造社群環境，凝聚網友向心力。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6464-C9F4-42E7-B57A-4E0D970B5188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09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2600" baseline="0">
                <a:latin typeface="Arial"/>
                <a:ea typeface="標楷體"/>
              </a:rPr>
              <a:t>2.3.2 B2B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電子商務，主要是應用於企業上下游間、與企業協力廠商間之資訊整合與交易。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可為企業減少採購成本與資訊處理成本，根據統計：一家公司的採購成本，約有一半是花費在內部採購流程上，例如，公文處理、採購訪價等。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傳統商業因冗長的供應鏈採購流程，需要較大的庫存量，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B2B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電子商務可以提升採購速度，監控採購進度，可以減少庫存量。</a:t>
            </a:r>
          </a:p>
          <a:p>
            <a:pPr marR="0" lvl="0" rt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r>
              <a:rPr lang="zh-TW" altLang="en-US" b="1" kern="100" dirty="0">
                <a:latin typeface="Arial"/>
              </a:rPr>
              <a:t>根據行政院主計處</a:t>
            </a:r>
            <a:r>
              <a:rPr lang="en-US" altLang="zh-TW" b="1" kern="100" dirty="0">
                <a:latin typeface="Arial"/>
              </a:rPr>
              <a:t>『2019</a:t>
            </a:r>
            <a:r>
              <a:rPr lang="zh-TW" altLang="en-US" b="1" kern="100" dirty="0">
                <a:latin typeface="Arial"/>
              </a:rPr>
              <a:t>年電子商務統計結果</a:t>
            </a:r>
            <a:r>
              <a:rPr lang="en-US" altLang="zh-TW" b="1" kern="100" dirty="0">
                <a:latin typeface="Arial"/>
              </a:rPr>
              <a:t>』</a:t>
            </a:r>
            <a:r>
              <a:rPr lang="zh-TW" altLang="en-US" b="1" kern="100" dirty="0">
                <a:latin typeface="Arial"/>
              </a:rPr>
              <a:t>資料：</a:t>
            </a:r>
            <a:endParaRPr lang="en-US" altLang="zh-TW" b="1" kern="100" dirty="0">
              <a:latin typeface="Arial"/>
            </a:endParaRPr>
          </a:p>
          <a:p>
            <a:pPr lvl="1"/>
            <a:r>
              <a:rPr lang="en-US" altLang="zh-TW" b="1" kern="100" dirty="0">
                <a:latin typeface="Arial"/>
              </a:rPr>
              <a:t>2019</a:t>
            </a:r>
            <a:r>
              <a:rPr lang="zh-TW" altLang="en-US" b="1" kern="100" dirty="0">
                <a:latin typeface="Arial"/>
              </a:rPr>
              <a:t>年工業及服務業網路銷售金額</a:t>
            </a:r>
            <a:r>
              <a:rPr lang="en-US" altLang="zh-TW" b="1" kern="100" dirty="0">
                <a:latin typeface="Arial"/>
              </a:rPr>
              <a:t>4</a:t>
            </a:r>
            <a:r>
              <a:rPr lang="zh-TW" altLang="en-US" b="1" kern="100" dirty="0">
                <a:latin typeface="Arial"/>
              </a:rPr>
              <a:t>兆</a:t>
            </a:r>
            <a:r>
              <a:rPr lang="en-US" altLang="zh-TW" b="1" kern="100" dirty="0">
                <a:latin typeface="Arial"/>
              </a:rPr>
              <a:t>3,363</a:t>
            </a:r>
            <a:r>
              <a:rPr lang="zh-TW" altLang="en-US" b="1" kern="100" dirty="0">
                <a:latin typeface="Arial"/>
              </a:rPr>
              <a:t>億元，較</a:t>
            </a:r>
            <a:r>
              <a:rPr lang="en-US" altLang="zh-TW" b="1" kern="100" dirty="0">
                <a:latin typeface="Arial"/>
              </a:rPr>
              <a:t>2018</a:t>
            </a:r>
            <a:r>
              <a:rPr lang="zh-TW" altLang="en-US" b="1" kern="100" dirty="0">
                <a:latin typeface="Arial"/>
              </a:rPr>
              <a:t>年增加</a:t>
            </a:r>
            <a:r>
              <a:rPr lang="en-US" altLang="zh-TW" b="1" kern="100" dirty="0">
                <a:latin typeface="Arial"/>
              </a:rPr>
              <a:t>2,973</a:t>
            </a:r>
            <a:r>
              <a:rPr lang="zh-TW" altLang="en-US" b="1" kern="100" dirty="0">
                <a:latin typeface="Arial"/>
              </a:rPr>
              <a:t>億元或</a:t>
            </a:r>
            <a:r>
              <a:rPr lang="en-US" altLang="zh-TW" b="1" kern="100" dirty="0">
                <a:latin typeface="Arial"/>
              </a:rPr>
              <a:t>7.4%</a:t>
            </a:r>
            <a:r>
              <a:rPr lang="zh-TW" altLang="en-US" b="1" kern="100" dirty="0">
                <a:latin typeface="Arial"/>
              </a:rPr>
              <a:t>；其中製造業</a:t>
            </a:r>
            <a:r>
              <a:rPr lang="en-US" altLang="zh-TW" b="1" kern="100" dirty="0">
                <a:latin typeface="Arial"/>
              </a:rPr>
              <a:t>2</a:t>
            </a:r>
            <a:r>
              <a:rPr lang="zh-TW" altLang="en-US" b="1" kern="100" dirty="0">
                <a:latin typeface="Arial"/>
              </a:rPr>
              <a:t>兆</a:t>
            </a:r>
            <a:r>
              <a:rPr lang="en-US" altLang="zh-TW" b="1" kern="100" dirty="0">
                <a:latin typeface="Arial"/>
              </a:rPr>
              <a:t>9,959</a:t>
            </a:r>
            <a:r>
              <a:rPr lang="zh-TW" altLang="en-US" b="1" kern="100" dirty="0">
                <a:latin typeface="Arial"/>
              </a:rPr>
              <a:t>億元或占</a:t>
            </a:r>
            <a:r>
              <a:rPr lang="en-US" altLang="zh-TW" b="1" kern="100" dirty="0">
                <a:latin typeface="Arial"/>
              </a:rPr>
              <a:t>69.1%</a:t>
            </a:r>
            <a:r>
              <a:rPr lang="zh-TW" altLang="en-US" b="1" kern="100" dirty="0">
                <a:latin typeface="Arial"/>
              </a:rPr>
              <a:t>，批發及零售業</a:t>
            </a:r>
            <a:r>
              <a:rPr lang="en-US" altLang="zh-TW" b="1" kern="100" dirty="0">
                <a:latin typeface="Arial"/>
              </a:rPr>
              <a:t>8,322</a:t>
            </a:r>
            <a:r>
              <a:rPr lang="zh-TW" altLang="en-US" b="1" kern="100" dirty="0">
                <a:latin typeface="Arial"/>
              </a:rPr>
              <a:t>億元或占</a:t>
            </a:r>
            <a:r>
              <a:rPr lang="en-US" altLang="zh-TW" b="1" kern="100" dirty="0">
                <a:latin typeface="Arial"/>
              </a:rPr>
              <a:t>19.2%</a:t>
            </a:r>
            <a:r>
              <a:rPr lang="zh-TW" altLang="en-US" b="1" kern="100" dirty="0">
                <a:latin typeface="Arial"/>
              </a:rPr>
              <a:t>。</a:t>
            </a:r>
            <a:endParaRPr lang="en-US" altLang="zh-TW" b="1" kern="100" dirty="0">
              <a:latin typeface="Arial"/>
            </a:endParaRPr>
          </a:p>
          <a:p>
            <a:pPr lvl="1"/>
            <a:r>
              <a:rPr lang="en-US" altLang="zh-TW" b="1" kern="100" dirty="0">
                <a:latin typeface="Arial"/>
              </a:rPr>
              <a:t>2019</a:t>
            </a:r>
            <a:r>
              <a:rPr lang="zh-TW" altLang="en-US" b="1" kern="100" dirty="0">
                <a:latin typeface="Arial"/>
              </a:rPr>
              <a:t>年透過網路銷售予企業</a:t>
            </a:r>
            <a:r>
              <a:rPr lang="en-US" altLang="zh-TW" b="1" kern="100" dirty="0">
                <a:latin typeface="Arial"/>
              </a:rPr>
              <a:t>(B2B)</a:t>
            </a:r>
            <a:r>
              <a:rPr lang="zh-TW" altLang="en-US" b="1" kern="100" dirty="0">
                <a:latin typeface="Arial"/>
              </a:rPr>
              <a:t>之金額為</a:t>
            </a:r>
            <a:r>
              <a:rPr lang="en-US" altLang="zh-TW" b="1" kern="100" dirty="0">
                <a:latin typeface="Arial"/>
              </a:rPr>
              <a:t>3</a:t>
            </a:r>
            <a:r>
              <a:rPr lang="zh-TW" altLang="en-US" b="1" kern="100" dirty="0">
                <a:latin typeface="Arial"/>
              </a:rPr>
              <a:t>兆</a:t>
            </a:r>
            <a:r>
              <a:rPr lang="en-US" altLang="zh-TW" b="1" kern="100" dirty="0">
                <a:latin typeface="Arial"/>
              </a:rPr>
              <a:t>6,144</a:t>
            </a:r>
            <a:r>
              <a:rPr lang="zh-TW" altLang="en-US" b="1" kern="100" dirty="0">
                <a:latin typeface="Arial"/>
              </a:rPr>
              <a:t>億元或占全體</a:t>
            </a:r>
            <a:r>
              <a:rPr lang="en-US" altLang="zh-TW" b="1" kern="100" dirty="0">
                <a:latin typeface="Arial"/>
              </a:rPr>
              <a:t>83.4%</a:t>
            </a:r>
            <a:r>
              <a:rPr lang="zh-TW" altLang="en-US" b="1" kern="100" dirty="0">
                <a:latin typeface="Arial"/>
              </a:rPr>
              <a:t>，較</a:t>
            </a:r>
            <a:r>
              <a:rPr lang="en-US" altLang="zh-TW" b="1" kern="100" dirty="0">
                <a:latin typeface="Arial"/>
              </a:rPr>
              <a:t>2018</a:t>
            </a:r>
            <a:r>
              <a:rPr lang="zh-TW" altLang="en-US" b="1" kern="100" dirty="0">
                <a:latin typeface="Arial"/>
              </a:rPr>
              <a:t>年成長</a:t>
            </a:r>
            <a:r>
              <a:rPr lang="en-US" altLang="zh-TW" b="1" kern="100" dirty="0">
                <a:latin typeface="Arial"/>
              </a:rPr>
              <a:t>2,008</a:t>
            </a:r>
            <a:r>
              <a:rPr lang="zh-TW" altLang="en-US" b="1" kern="100" dirty="0">
                <a:latin typeface="Arial"/>
              </a:rPr>
              <a:t>億元或</a:t>
            </a:r>
            <a:r>
              <a:rPr lang="en-US" altLang="zh-TW" b="1" kern="100" dirty="0">
                <a:latin typeface="Arial"/>
              </a:rPr>
              <a:t>5.9%</a:t>
            </a:r>
            <a:r>
              <a:rPr lang="zh-TW" altLang="en-US" b="1" kern="100" dirty="0">
                <a:latin typeface="Arial"/>
              </a:rPr>
              <a:t>，其中製造業貢獻</a:t>
            </a:r>
            <a:r>
              <a:rPr lang="en-US" altLang="zh-TW" b="1" kern="100" dirty="0">
                <a:latin typeface="Arial"/>
              </a:rPr>
              <a:t>B2B</a:t>
            </a:r>
            <a:r>
              <a:rPr lang="zh-TW" altLang="en-US" b="1" kern="100" dirty="0">
                <a:latin typeface="Arial"/>
              </a:rPr>
              <a:t>銷售增額逾</a:t>
            </a:r>
            <a:r>
              <a:rPr lang="en-US" altLang="zh-TW" b="1" kern="100" dirty="0">
                <a:latin typeface="Arial"/>
              </a:rPr>
              <a:t>6</a:t>
            </a:r>
            <a:r>
              <a:rPr lang="zh-TW" altLang="en-US" b="1" kern="100" dirty="0">
                <a:latin typeface="Arial"/>
              </a:rPr>
              <a:t>成。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678C-C521-4CBE-894D-D5C8370A753F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75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ea typeface="標楷體" pitchFamily="65" charset="-120"/>
              </a:rPr>
              <a:t>2.3.3 C2B </a:t>
            </a:r>
            <a:r>
              <a:rPr lang="zh-TW" altLang="zh-TW" b="1" dirty="0">
                <a:ea typeface="標楷體" pitchFamily="65" charset="-120"/>
              </a:rPr>
              <a:t>電子商務</a:t>
            </a:r>
            <a:endParaRPr lang="zh-TW" altLang="en-US" b="1" dirty="0">
              <a:ea typeface="標楷體" pitchFamily="65" charset="-120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b="1" dirty="0">
                <a:ea typeface="標楷體" pitchFamily="65" charset="-120"/>
              </a:rPr>
              <a:t>C2B </a:t>
            </a:r>
            <a:r>
              <a:rPr lang="zh-TW" altLang="en-US" b="1" dirty="0">
                <a:ea typeface="標楷體" pitchFamily="65" charset="-120"/>
              </a:rPr>
              <a:t>電子商務是以消費者為中心的商業模式，由消費者主導商品的銷售，消費者聚合需求的力量，吸引商家提供合適的服務與商品。</a:t>
            </a:r>
            <a:endParaRPr lang="en-US" altLang="zh-TW" b="1" dirty="0">
              <a:ea typeface="標楷體" pitchFamily="65" charset="-120"/>
            </a:endParaRPr>
          </a:p>
          <a:p>
            <a:r>
              <a:rPr lang="en-US" altLang="zh-TW" b="1" dirty="0">
                <a:ea typeface="標楷體" pitchFamily="65" charset="-120"/>
              </a:rPr>
              <a:t>C2B </a:t>
            </a:r>
            <a:r>
              <a:rPr lang="zh-TW" altLang="en-US" b="1" dirty="0">
                <a:ea typeface="標楷體" pitchFamily="65" charset="-120"/>
              </a:rPr>
              <a:t>電子商務具有下列特性。</a:t>
            </a:r>
          </a:p>
          <a:p>
            <a:pPr lvl="1"/>
            <a:r>
              <a:rPr lang="zh-TW" altLang="en-US" b="1" dirty="0">
                <a:ea typeface="標楷體" pitchFamily="65" charset="-120"/>
              </a:rPr>
              <a:t>以消費者為中心的商業模式。</a:t>
            </a:r>
          </a:p>
          <a:p>
            <a:pPr lvl="1"/>
            <a:r>
              <a:rPr lang="zh-TW" altLang="en-US" b="1" dirty="0">
                <a:ea typeface="標楷體" pitchFamily="65" charset="-120"/>
              </a:rPr>
              <a:t>商家聚集以提供給消費者合適的選擇。</a:t>
            </a:r>
          </a:p>
          <a:p>
            <a:pPr lvl="1"/>
            <a:r>
              <a:rPr lang="zh-TW" altLang="en-US" b="1" dirty="0">
                <a:ea typeface="標楷體" pitchFamily="65" charset="-120"/>
              </a:rPr>
              <a:t>消費者聚合需求的力量以引導商家以提供服務或商品。</a:t>
            </a:r>
          </a:p>
          <a:p>
            <a:pPr lvl="1"/>
            <a:r>
              <a:rPr lang="zh-TW" altLang="en-US" b="1" dirty="0">
                <a:ea typeface="標楷體" pitchFamily="65" charset="-120"/>
              </a:rPr>
              <a:t>提供消費者個別化的需求。</a:t>
            </a:r>
          </a:p>
          <a:p>
            <a:r>
              <a:rPr lang="zh-TW" altLang="en-US" b="1" dirty="0">
                <a:ea typeface="標楷體" pitchFamily="65" charset="-120"/>
              </a:rPr>
              <a:t>依據 </a:t>
            </a:r>
            <a:r>
              <a:rPr lang="en-US" altLang="zh-TW" b="1" dirty="0">
                <a:ea typeface="標楷體" pitchFamily="65" charset="-120"/>
              </a:rPr>
              <a:t>C2B </a:t>
            </a:r>
            <a:r>
              <a:rPr lang="zh-TW" altLang="en-US" b="1" dirty="0">
                <a:ea typeface="標楷體" pitchFamily="65" charset="-120"/>
              </a:rPr>
              <a:t>電子商務的特性，代購服務具有 </a:t>
            </a:r>
            <a:r>
              <a:rPr lang="en-US" altLang="zh-TW" b="1" dirty="0">
                <a:ea typeface="標楷體" pitchFamily="65" charset="-120"/>
              </a:rPr>
              <a:t>C2B </a:t>
            </a:r>
            <a:r>
              <a:rPr lang="zh-TW" altLang="en-US" b="1" dirty="0">
                <a:ea typeface="標楷體" pitchFamily="65" charset="-120"/>
              </a:rPr>
              <a:t>的一些特質，它以消費者為中心，提供消費者服務與商品之需求。目前成功的模式之一是「集體採購」商業模式。 </a:t>
            </a:r>
            <a:endParaRPr lang="en-US" altLang="zh-TW" b="1" dirty="0">
              <a:ea typeface="標楷體" pitchFamily="65" charset="-120"/>
            </a:endParaRPr>
          </a:p>
          <a:p>
            <a:r>
              <a:rPr lang="en-US" altLang="zh-TW" b="1" dirty="0">
                <a:ea typeface="標楷體" pitchFamily="65" charset="-120"/>
              </a:rPr>
              <a:t>C2B </a:t>
            </a:r>
            <a:r>
              <a:rPr lang="zh-TW" altLang="en-US" b="1" dirty="0">
                <a:ea typeface="標楷體" pitchFamily="65" charset="-120"/>
              </a:rPr>
              <a:t>是一種創新模式，消費者是整個市場的主導力量，消費者提出需求，商家競相提供服務與商品，消費者有權決定其所購買產品的內容，其模式尚待開發，但具有不可限量的發展前途。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3758-AD4D-4C03-BEA5-3AB8886A64A2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2.3.4 C2C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ea typeface="標楷體"/>
              </a:rPr>
              <a:t>網路發達以後，</a:t>
            </a:r>
            <a:r>
              <a:rPr lang="en-US" altLang="zh-TW" b="1" i="0" u="none" strike="noStrike" kern="100" baseline="0" dirty="0">
                <a:ea typeface="標楷體"/>
              </a:rPr>
              <a:t>C2C</a:t>
            </a:r>
            <a:r>
              <a:rPr lang="zh-TW" altLang="en-US" b="1" i="0" u="none" strike="noStrike" kern="100" baseline="0" dirty="0">
                <a:ea typeface="標楷體"/>
              </a:rPr>
              <a:t>電子商業交易模式興起，以更快的速度將賣方訊息傳遞給買方，並把更完整的商品訊息提供給買方。較具特色之</a:t>
            </a:r>
            <a:r>
              <a:rPr lang="en-US" altLang="zh-TW" b="1" i="0" u="none" strike="noStrike" kern="100" baseline="0" dirty="0">
                <a:ea typeface="標楷體"/>
              </a:rPr>
              <a:t>C2C</a:t>
            </a:r>
            <a:r>
              <a:rPr lang="zh-TW" altLang="en-US" b="1" i="0" u="none" strike="noStrike" kern="100" baseline="0" dirty="0">
                <a:ea typeface="標楷體"/>
              </a:rPr>
              <a:t>模式如下：</a:t>
            </a:r>
          </a:p>
          <a:p>
            <a:pPr lvl="1"/>
            <a:r>
              <a:rPr lang="zh-TW" altLang="en-US" b="1" i="0" u="none" strike="noStrike" kern="100" baseline="0" dirty="0">
                <a:ea typeface="標楷體"/>
              </a:rPr>
              <a:t>網路拍賣：網路拍賣是將傳統之拍賣市場轉移至電子作業的方式，並且可提供競標的方式進行交易。例如，露天拍賣網站，在時間與空間上都具有突破性的概念，買方可以</a:t>
            </a:r>
            <a:r>
              <a:rPr lang="en-US" altLang="zh-TW" b="1" i="0" u="none" strike="noStrike" kern="100" baseline="0" dirty="0">
                <a:ea typeface="標楷體"/>
              </a:rPr>
              <a:t>24</a:t>
            </a:r>
            <a:r>
              <a:rPr lang="zh-TW" altLang="en-US" b="1" i="0" u="none" strike="noStrike" kern="100" baseline="0" dirty="0">
                <a:ea typeface="標楷體"/>
              </a:rPr>
              <a:t>小時上網購買商品，也沒有地域的限制，只要能上網就可以加入拍賣行列。</a:t>
            </a:r>
          </a:p>
          <a:p>
            <a:pPr lvl="1"/>
            <a:r>
              <a:rPr lang="en-US" altLang="zh-TW" b="1" i="0" u="none" strike="noStrike" kern="100" baseline="0" dirty="0">
                <a:ea typeface="標楷體"/>
              </a:rPr>
              <a:t>P2P </a:t>
            </a:r>
            <a:r>
              <a:rPr lang="zh-TW" altLang="en-US" b="1" i="0" u="none" strike="noStrike" kern="100" baseline="0" dirty="0">
                <a:ea typeface="標楷體"/>
              </a:rPr>
              <a:t>資源分享：</a:t>
            </a:r>
            <a:r>
              <a:rPr lang="en-US" altLang="zh-TW" b="1" i="0" u="none" strike="noStrike" kern="100" baseline="0" dirty="0">
                <a:ea typeface="標楷體"/>
              </a:rPr>
              <a:t>P2P</a:t>
            </a:r>
            <a:r>
              <a:rPr lang="zh-TW" altLang="en-US" b="1" i="0" u="none" strike="noStrike" kern="100" baseline="0" dirty="0">
                <a:ea typeface="標楷體"/>
              </a:rPr>
              <a:t> </a:t>
            </a:r>
            <a:r>
              <a:rPr lang="en-US" altLang="zh-TW" b="1" i="0" u="none" strike="noStrike" kern="100" baseline="0" dirty="0">
                <a:ea typeface="標楷體"/>
              </a:rPr>
              <a:t>(</a:t>
            </a:r>
            <a:r>
              <a:rPr lang="zh-TW" altLang="en-US" b="1" i="0" u="none" strike="noStrike" kern="100" baseline="0" dirty="0">
                <a:ea typeface="標楷體"/>
              </a:rPr>
              <a:t> </a:t>
            </a:r>
            <a:r>
              <a:rPr lang="en-US" altLang="zh-TW" b="1" i="0" u="none" strike="noStrike" kern="100" baseline="0" dirty="0">
                <a:ea typeface="標楷體"/>
              </a:rPr>
              <a:t>peer to peer</a:t>
            </a:r>
            <a:r>
              <a:rPr lang="zh-TW" altLang="en-US" b="1" i="0" u="none" strike="noStrike" kern="100" baseline="0" dirty="0">
                <a:ea typeface="標楷體"/>
              </a:rPr>
              <a:t> </a:t>
            </a:r>
            <a:r>
              <a:rPr lang="en-US" altLang="zh-TW" b="1" i="0" u="none" strike="noStrike" kern="100" baseline="0" dirty="0">
                <a:ea typeface="標楷體"/>
              </a:rPr>
              <a:t>) </a:t>
            </a:r>
            <a:r>
              <a:rPr lang="zh-TW" altLang="en-US" b="1" i="0" u="none" strike="noStrike" kern="100" baseline="0" dirty="0">
                <a:ea typeface="標楷體"/>
              </a:rPr>
              <a:t>就是點對點的意思，透過</a:t>
            </a:r>
            <a:r>
              <a:rPr lang="en-US" altLang="zh-TW" b="1" i="0" u="none" strike="noStrike" kern="100" baseline="0" dirty="0">
                <a:ea typeface="標楷體"/>
              </a:rPr>
              <a:t>P2P </a:t>
            </a:r>
            <a:r>
              <a:rPr lang="zh-TW" altLang="en-US" b="1" i="0" u="none" strike="noStrike" kern="100" baseline="0" dirty="0">
                <a:ea typeface="標楷體"/>
              </a:rPr>
              <a:t>網路分享，也可以建立個人與個人連結之商業模式，以進行各種商業交易行為。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31CD5-AEA3-45FC-B6F2-FA5B9CF6CAD5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03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>
                <a:latin typeface="Arial"/>
                <a:ea typeface="標楷體"/>
              </a:rPr>
              <a:t>2.3.5 O</a:t>
            </a:r>
            <a:r>
              <a:rPr lang="en-US" altLang="zh-TW" b="1" i="0" u="none" strike="noStrike" kern="2600" baseline="0" dirty="0">
                <a:latin typeface="Times New Roman"/>
                <a:ea typeface="標楷體"/>
              </a:rPr>
              <a:t>2O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電子商務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電子商務興起的時代，即使是在電子商務最發達的美國，線上電子商務消費、網路訂購、商家出貨、金流支付業務等，僅佔國民消費總額的一成左右。大部分還是在實體商店消費，例如，酒吧、咖啡店、健身房、餐廳、加油站、房屋修繕、乾洗店和髮廊等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近年來發展出這種模式，將這些服務導入線上銷售以帶動離線服務，即是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的電子商務模式。</a:t>
            </a:r>
          </a:p>
          <a:p>
            <a:pPr marR="0" lvl="0" rtl="0"/>
            <a:r>
              <a:rPr lang="en-US" altLang="zh-TW" b="1" i="0" u="none" strike="noStrike" kern="100" baseline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是一個潛能很大的市場，由於服務行業的企業數量龐大，而且地域性特別強，如何增進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O2O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業務量，各網路商務平台競相提出新服務，爭取商機。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81C61-A457-47A4-8F68-0BABF84297FA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836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2.4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電子商務流程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電子商務至少需要整合三項主要流程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資訊流：電子商務交易之間資訊的傳遞過程，是電子商務的核心要素之一。資訊流整合與改造電子商務的流程，而資金流與物流也需要資訊流的傳遞。</a:t>
            </a:r>
          </a:p>
          <a:p>
            <a:pPr lvl="1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資金流：資金的轉移過程，包括支付、轉賬、結算等，資金流也是電子商務重要的支柱。</a:t>
            </a:r>
          </a:p>
          <a:p>
            <a:pPr lvl="1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物流：因商品交易行為而形成的實體物質的物理性移動過程，包括包裝、裝卸、儲存、運輸、配送等。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B608-76C6-49E3-BF30-622BA3DF30BF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749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2.5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電子商務安全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288" y="1417638"/>
            <a:ext cx="8497887" cy="4708525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對於買方的安全威脅：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假冒的商家，騙取買方的資料與金錢。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付款後無法取得貨品或收到瑕疵品。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買方資料外洩，或遭到賣方濫用。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利用竊取的資料，對買方進行詐騙。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對於賣方面臨的安全威脅：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系統安全遭到破壞。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假冒的買方，擾亂電子商務之交易。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買方對於賣方網站信賴度低。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系統設計有瑕疵或漏洞。</a:t>
            </a: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客戶資料庫遭到駭客盜取。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1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是常用的網路安全傳輸協定標準，在客戶端與伺服器之間建立安全的連線，資料傳輸受到加密的保護，以防買方輸入的信用卡號碼與客戶資料在網路傳輸時遭到竊取。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如果使用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連線時，所要瀏覽的網站通過上述的檢查，瀏覽器顯示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『https://』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會轉為綠色，否則會標示紅色並出現「</a:t>
            </a:r>
            <a:r>
              <a:rPr lang="zh-TW" altLang="en-US" b="1" i="0" u="none" strike="noStrike" kern="100" baseline="0" dirty="0">
                <a:latin typeface="Times New Roman"/>
                <a:ea typeface="標楷體"/>
                <a:sym typeface="Wingdings 2"/>
              </a:rPr>
              <a:t></a:t>
            </a:r>
            <a:r>
              <a:rPr lang="zh-TW" altLang="en-US" b="1" i="0" u="none" strike="noStrike" kern="100" baseline="0" dirty="0">
                <a:latin typeface="Arial"/>
                <a:ea typeface="標楷體"/>
                <a:sym typeface="Wingdings 2"/>
              </a:rPr>
              <a:t>」記號 </a:t>
            </a:r>
            <a:r>
              <a:rPr lang="en-US" altLang="zh-TW" b="1" i="0" u="none" strike="noStrike" kern="100" baseline="0" dirty="0">
                <a:latin typeface="Arial"/>
                <a:ea typeface="標楷體"/>
                <a:sym typeface="Wingdings 2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  <a:sym typeface="Wingdings 2"/>
              </a:rPr>
              <a:t> 圖</a:t>
            </a:r>
            <a:r>
              <a:rPr lang="en-US" altLang="zh-TW" b="1" i="0" u="none" strike="noStrike" kern="100" baseline="0" dirty="0">
                <a:latin typeface="Arial"/>
                <a:ea typeface="標楷體"/>
                <a:sym typeface="Wingdings 2"/>
              </a:rPr>
              <a:t>2-2</a:t>
            </a:r>
            <a:r>
              <a:rPr lang="zh-TW" altLang="en-US" b="1" i="0" u="none" strike="noStrike" kern="100" baseline="0" dirty="0">
                <a:latin typeface="Arial"/>
                <a:ea typeface="標楷體"/>
                <a:sym typeface="Wingdings 2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  <a:sym typeface="Wingdings 2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  <a:sym typeface="Wingdings 2"/>
              </a:rPr>
              <a:t>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29D21-133E-413D-A3B8-0CC14B7297E8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354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84984"/>
            <a:ext cx="33782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059832" y="4437112"/>
            <a:ext cx="2925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2-2 SSL/TLS </a:t>
            </a:r>
            <a:r>
              <a:rPr lang="zh-TW" altLang="zh-TW" dirty="0"/>
              <a:t>安全瀏覽標示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0CC3-4C39-4D6C-B8E1-0F1571752F64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73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>
                <a:latin typeface="Arial"/>
                <a:ea typeface="標楷體"/>
              </a:rPr>
              <a:t>2.6 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付款機制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資金流為電子商務重要流程，在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B2C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C2C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電子商務模式的金流，大部分由傳統付款機制演進而來。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B2B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電子商務，因涉及各行業別差異較大，所以各有特殊的流程。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F03FA-81BB-4E7E-B835-4C35729FCB2D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70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>
                <a:latin typeface="Arial"/>
                <a:ea typeface="標楷體"/>
              </a:rPr>
              <a:t>傳統付款機制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電子商務交易，透過網路訂購貨品，買家可以採用傳統之付款機制來付款，包含：郵政劃撥、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ATM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提款機轉帳、傳真刷卡、宅配貨到付款、超商貨到付款等機制。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郵政劃撥付款，例如，圖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2-3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C2C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電子商務的拍賣網站，因金額較小可使用郵政劃撥，既簡易又方便。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宅配貨到付款機制，是利用郵局或宅配業者與廠家合作之宅配收款機制。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83C3-EF9D-46BE-8A0B-F64BA5C910DB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78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>
                <a:latin typeface="Arial"/>
                <a:ea typeface="標楷體"/>
              </a:rPr>
              <a:t>線上付款機制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由於網路電子商務的興起，近年來發展出多項的線上付款機制。例如，圖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2-4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，線上信用卡刷卡，另外，也可採用虛擬帳號、電子錢包、</a:t>
            </a:r>
            <a:r>
              <a:rPr lang="en-US" altLang="zh-TW" b="1" i="0" u="none" strike="noStrike" kern="100" baseline="0" dirty="0" err="1">
                <a:latin typeface="Arial"/>
                <a:ea typeface="標楷體"/>
              </a:rPr>
              <a:t>WebATM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等機制。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線上刷卡是基於信賴機制的付款方式，雖然廠商並未取得買家之刷卡簽名，但因交易金額較小，且商家具有信譽，所以，此種付款方式已演變成為網路交易付款的主流。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通常，線上刷卡資訊都透過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SSL/TLS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安全協定機制之保護，不會被網路監聽工具竊取信用卡號碼。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A4C2-DEC4-4A54-8707-1696B8FA33ED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598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1475"/>
            <a:ext cx="43434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275856" y="4581128"/>
            <a:ext cx="285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2-4 </a:t>
            </a:r>
            <a:r>
              <a:rPr lang="zh-TW" altLang="zh-TW" dirty="0"/>
              <a:t>使用信用卡付款機制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033E-8532-4A95-AE7B-34ED205CC440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869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>
                <a:latin typeface="Arial"/>
                <a:ea typeface="標楷體"/>
              </a:rPr>
              <a:t>虛擬帳號付款機制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虛擬帳號付款機制，是在交易付款時產生一組臨時帳號，包含銀行代碼與轉帳帳戶。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再將貨款利用實體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ATM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或劃撥轉入此帳號，完成付款程序。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採用本機制可以避免銀行或商家洩漏客戶的信用卡資料。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F997A-0643-49BA-9742-42787632F333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470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u="none" strike="noStrike" kern="100" baseline="0" dirty="0" err="1">
                <a:latin typeface="Arial"/>
                <a:ea typeface="標楷體"/>
              </a:rPr>
              <a:t>WebATM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網路櫃員機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b="1" i="0" u="none" strike="noStrike" kern="100" baseline="0" dirty="0" err="1">
                <a:latin typeface="Arial"/>
                <a:ea typeface="標楷體"/>
              </a:rPr>
              <a:t>WebATM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是網路櫃員機，提供網路版的櫃員機服務，方便客戶在電腦前使用，需要配備讀卡機，使用時將金融卡插入讀卡機，就像在實體的櫃員機操作轉帳一般，唯一不同的是不能提供提款服務。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利用郵局的網路櫃員機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</a:t>
            </a:r>
            <a:r>
              <a:rPr lang="en-US" altLang="zh-TW" b="1" i="0" u="none" strike="noStrike" kern="100" baseline="0" dirty="0" err="1">
                <a:latin typeface="Arial"/>
                <a:ea typeface="標楷體"/>
              </a:rPr>
              <a:t>WebATM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，在電子商務完成交易後，使用網路櫃員機將貨款轉帳至賣方的帳號，完成付款程序。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2BFF-C08C-48F5-B2FE-8F7D72F4427A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365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>
                <a:latin typeface="Arial"/>
                <a:ea typeface="標楷體"/>
              </a:rPr>
              <a:t>第三方支付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第三方支付是電子商務支付資金流中，具備一定實力和信譽保障的獨立機構，提供與銀行支付結算系統介面的交易支持平臺的網路支付模式。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買方選購商品後，使用第三方平臺提供的帳戶進行貨款支付，買方收到貨物後，並檢驗商品進行確認後，就可以通知第三方付款給賣家，第三方再將款項轉至賣家帳戶。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第三方支付是聯結各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B2C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中各商家與買方的支付金流，簡化資金流流程，並確保雙方權益，減少詐騙事件發生。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5E68-8EC6-4802-A502-03551B4DEE04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01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>
                <a:latin typeface="Arial"/>
                <a:ea typeface="標楷體"/>
              </a:rPr>
              <a:t>密碼電子貨幣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密碼電子貨幣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cryptocurrency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是匿名的虛擬貨幣，是電子貨幣的一種，基於密碼學的原理而設計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，如比特幣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bitcoin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等，尚未納入管理規範，但越來越多的電子商務接受密碼電子貨幣，是通用性的方便支付工具，但遊走法律邊緣，也會有洗錢的潛在風險。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3ADF-D93A-41D1-BB02-CDDF02E3C692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562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>
                <a:latin typeface="Arial"/>
                <a:ea typeface="標楷體"/>
              </a:rPr>
              <a:t>行動支付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b="1" kern="100" dirty="0">
                <a:latin typeface="Arial"/>
              </a:rPr>
              <a:t>行動支付是支付工具的另一種選擇，行動支付的普及與多樣帶給顧客更多的便利。</a:t>
            </a:r>
            <a:endParaRPr lang="en-US" altLang="zh-TW" b="1" kern="100" dirty="0">
              <a:latin typeface="Arial"/>
            </a:endParaRPr>
          </a:p>
          <a:p>
            <a:pPr lvl="0"/>
            <a:r>
              <a:rPr lang="zh-TW" altLang="en-US" b="1" kern="100" dirty="0">
                <a:latin typeface="Arial"/>
              </a:rPr>
              <a:t>透過行動裝置綁定電子錢包、信用卡、或金融卡等，以支付交易金額，常見有</a:t>
            </a:r>
            <a:r>
              <a:rPr lang="en-US" altLang="zh-TW" b="1" kern="100" dirty="0">
                <a:latin typeface="Arial"/>
              </a:rPr>
              <a:t>Line Pay</a:t>
            </a:r>
            <a:r>
              <a:rPr lang="zh-TW" altLang="en-US" b="1" kern="100" dirty="0">
                <a:latin typeface="Arial"/>
              </a:rPr>
              <a:t>、街口支付、</a:t>
            </a:r>
            <a:r>
              <a:rPr lang="en-US" altLang="zh-TW" b="1" kern="100" dirty="0">
                <a:latin typeface="Arial"/>
              </a:rPr>
              <a:t>Apple Pay</a:t>
            </a:r>
            <a:r>
              <a:rPr lang="zh-TW" altLang="en-US" b="1" kern="100" dirty="0">
                <a:latin typeface="Arial"/>
              </a:rPr>
              <a:t>、</a:t>
            </a:r>
            <a:r>
              <a:rPr lang="en-US" altLang="zh-TW" b="1" kern="100" dirty="0">
                <a:latin typeface="Arial"/>
              </a:rPr>
              <a:t>Google Pay</a:t>
            </a:r>
            <a:r>
              <a:rPr lang="zh-TW" altLang="en-US" b="1" kern="100" dirty="0">
                <a:latin typeface="Arial"/>
              </a:rPr>
              <a:t>、</a:t>
            </a:r>
            <a:r>
              <a:rPr lang="en-US" altLang="zh-TW" b="1" kern="100" dirty="0">
                <a:latin typeface="Arial"/>
              </a:rPr>
              <a:t>PX Pay</a:t>
            </a:r>
            <a:r>
              <a:rPr lang="zh-TW" altLang="en-US" b="1" kern="100" dirty="0">
                <a:latin typeface="Arial"/>
              </a:rPr>
              <a:t>、台灣 </a:t>
            </a:r>
            <a:r>
              <a:rPr lang="en-US" altLang="zh-TW" b="1" kern="100" dirty="0">
                <a:latin typeface="Arial"/>
              </a:rPr>
              <a:t>pay</a:t>
            </a:r>
            <a:r>
              <a:rPr lang="zh-TW" altLang="en-US" b="1" kern="100" dirty="0">
                <a:latin typeface="Arial"/>
              </a:rPr>
              <a:t>、</a:t>
            </a:r>
            <a:r>
              <a:rPr lang="en-US" altLang="zh-TW" b="1" kern="100" dirty="0">
                <a:latin typeface="Arial"/>
              </a:rPr>
              <a:t>Samsung Pay</a:t>
            </a:r>
            <a:r>
              <a:rPr lang="zh-TW" altLang="en-US" b="1" kern="100" dirty="0">
                <a:latin typeface="Arial"/>
              </a:rPr>
              <a:t>、歐付寶、悠遊付、橘子支付</a:t>
            </a:r>
            <a:r>
              <a:rPr lang="en-US" altLang="zh-TW" b="1" kern="100" dirty="0">
                <a:latin typeface="Arial"/>
              </a:rPr>
              <a:t>...</a:t>
            </a:r>
            <a:r>
              <a:rPr lang="zh-TW" altLang="en-US" b="1" kern="100" dirty="0">
                <a:latin typeface="Arial"/>
              </a:rPr>
              <a:t>等。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DCD1B-0CA3-4607-8287-8D12D6DCF3B1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5039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>
                <a:latin typeface="Arial"/>
                <a:ea typeface="標楷體"/>
              </a:rPr>
              <a:t>2.7 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安全認證標章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zh-TW" altLang="en-US" sz="2400" b="1" kern="100" dirty="0">
                <a:latin typeface="Arial"/>
              </a:rPr>
              <a:t>經濟部商業司自</a:t>
            </a:r>
            <a:r>
              <a:rPr lang="en-US" altLang="zh-TW" sz="2400" b="1" kern="100" dirty="0">
                <a:latin typeface="Arial"/>
              </a:rPr>
              <a:t>2011</a:t>
            </a:r>
            <a:r>
              <a:rPr lang="zh-TW" altLang="en-US" sz="2400" b="1" kern="100" dirty="0">
                <a:latin typeface="Arial"/>
              </a:rPr>
              <a:t>起推廣「網站身分識別標章」，並且即時呈現網站安全狀態。取得網站身分識別標章的電子商務平臺業者，該標章會動態顯示網站安全性，作為消費者辨識的參考。</a:t>
            </a:r>
            <a:endParaRPr lang="en-US" altLang="zh-TW" sz="2400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sz="2400" b="1" i="0" u="none" strike="noStrike" kern="100" baseline="0" dirty="0">
              <a:latin typeface="Arial"/>
              <a:ea typeface="標楷體"/>
            </a:endParaRPr>
          </a:p>
          <a:p>
            <a:pPr lvl="0"/>
            <a:r>
              <a:rPr lang="zh-TW" altLang="en-US" sz="2400" b="1" kern="100" dirty="0">
                <a:latin typeface="Arial"/>
              </a:rPr>
              <a:t>網站業者還可以申請網站安全測試認證標章，常見的線上安全認證標章如： </a:t>
            </a:r>
            <a:r>
              <a:rPr lang="en-US" altLang="zh-TW" sz="2400" b="1" kern="100" dirty="0" err="1">
                <a:latin typeface="Arial"/>
              </a:rPr>
              <a:t>McAfee『McAfee</a:t>
            </a:r>
            <a:r>
              <a:rPr lang="en-US" altLang="zh-TW" sz="2400" b="1" kern="100" dirty="0">
                <a:latin typeface="Arial"/>
              </a:rPr>
              <a:t> Secure』</a:t>
            </a:r>
            <a:r>
              <a:rPr lang="zh-TW" altLang="en-US" sz="2400" b="1" kern="100" dirty="0">
                <a:latin typeface="Arial"/>
              </a:rPr>
              <a:t>、阿碼科技</a:t>
            </a:r>
            <a:r>
              <a:rPr lang="en-US" altLang="zh-TW" sz="2400" b="1" kern="100" dirty="0">
                <a:latin typeface="Arial"/>
              </a:rPr>
              <a:t>『</a:t>
            </a:r>
            <a:r>
              <a:rPr lang="en-US" altLang="zh-TW" sz="2400" b="1" kern="100" dirty="0" err="1">
                <a:latin typeface="Arial"/>
              </a:rPr>
              <a:t>HackAlert</a:t>
            </a:r>
            <a:r>
              <a:rPr lang="en-US" altLang="zh-TW" sz="2400" b="1" kern="100" dirty="0">
                <a:latin typeface="Arial"/>
              </a:rPr>
              <a:t>』</a:t>
            </a:r>
            <a:r>
              <a:rPr lang="zh-TW" altLang="en-US" sz="2400" b="1" kern="100" dirty="0">
                <a:latin typeface="Arial"/>
              </a:rPr>
              <a:t>、趨勢科技</a:t>
            </a:r>
            <a:r>
              <a:rPr lang="en-US" altLang="zh-TW" sz="2400" b="1" kern="100" dirty="0">
                <a:latin typeface="Arial"/>
              </a:rPr>
              <a:t>『Worry Free Security』</a:t>
            </a:r>
            <a:r>
              <a:rPr lang="zh-TW" altLang="en-US" sz="2400" b="1" kern="100" dirty="0">
                <a:latin typeface="Arial"/>
              </a:rPr>
              <a:t>、網駭科技</a:t>
            </a:r>
            <a:r>
              <a:rPr lang="en-US" altLang="zh-TW" sz="2400" b="1" kern="100" dirty="0">
                <a:latin typeface="Arial"/>
              </a:rPr>
              <a:t>『Web Alert』</a:t>
            </a:r>
            <a:r>
              <a:rPr lang="zh-TW" altLang="en-US" sz="2400" b="1" kern="100" dirty="0">
                <a:latin typeface="Arial"/>
              </a:rPr>
              <a:t>等。</a:t>
            </a:r>
            <a:endParaRPr lang="en-US" altLang="zh-TW" sz="2400" b="1" kern="100" dirty="0">
              <a:latin typeface="Arial"/>
            </a:endParaRPr>
          </a:p>
          <a:p>
            <a:pPr lvl="0"/>
            <a:endParaRPr lang="en-US" altLang="zh-TW" sz="2400" b="1" kern="100" dirty="0">
              <a:latin typeface="Arial"/>
            </a:endParaRPr>
          </a:p>
          <a:p>
            <a:pPr lvl="0"/>
            <a:r>
              <a:rPr lang="zh-TW" altLang="en-US" sz="2400" b="1" kern="100" dirty="0">
                <a:latin typeface="Arial"/>
              </a:rPr>
              <a:t>為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確保電子商務交易的安全性，美國會計師協會 </a:t>
            </a:r>
            <a:r>
              <a:rPr lang="en-US" altLang="zh-TW" sz="2400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>
                <a:latin typeface="Arial"/>
                <a:ea typeface="標楷體"/>
              </a:rPr>
              <a:t>AICPA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 與加拿大會計師協會 </a:t>
            </a:r>
            <a:r>
              <a:rPr lang="en-US" altLang="zh-TW" sz="2400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>
                <a:latin typeface="Arial"/>
                <a:ea typeface="標楷體"/>
              </a:rPr>
              <a:t>CICA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sz="2400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 推出</a:t>
            </a:r>
            <a:r>
              <a:rPr lang="en-US" altLang="zh-TW" sz="2400" b="1" i="0" u="none" strike="noStrike" kern="100" baseline="0" dirty="0" err="1">
                <a:latin typeface="Arial"/>
                <a:ea typeface="標楷體"/>
              </a:rPr>
              <a:t>WebTrust</a:t>
            </a:r>
            <a:r>
              <a:rPr lang="zh-TW" altLang="en-US" sz="2400" b="1" i="0" u="none" strike="noStrike" kern="100" baseline="0" dirty="0">
                <a:latin typeface="Arial"/>
                <a:ea typeface="標楷體"/>
              </a:rPr>
              <a:t>網站安全認證服務。</a:t>
            </a:r>
            <a:endParaRPr lang="zh-TW" altLang="en-US" sz="2400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526D-BBFD-465E-B873-372D3E9E8D7A}" type="datetime1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83D4E-F72A-46D1-9C2F-9CF0BFE14BD9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6138688"/>
      </p:ext>
    </p:extLst>
  </p:cSld>
  <p:clrMapOvr>
    <a:masterClrMapping/>
  </p:clrMapOvr>
</p:sld>
</file>

<file path=ppt/theme/theme1.xml><?xml version="1.0" encoding="utf-8"?>
<a:theme xmlns:a="http://schemas.openxmlformats.org/drawingml/2006/main" name="LAB母片(no浮水印)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LAB母片(no浮水印)</Template>
  <TotalTime>77</TotalTime>
  <Words>2561</Words>
  <Application>Microsoft Office PowerPoint</Application>
  <PresentationFormat>如螢幕大小 (4:3)</PresentationFormat>
  <Paragraphs>188</Paragraphs>
  <Slides>25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標楷體</vt:lpstr>
      <vt:lpstr>Arial</vt:lpstr>
      <vt:lpstr>Calibri</vt:lpstr>
      <vt:lpstr>Goudy Old Style</vt:lpstr>
      <vt:lpstr>Times New Roman</vt:lpstr>
      <vt:lpstr>LAB母片(no浮水印)</vt:lpstr>
      <vt:lpstr>第02章 電子商務安全</vt:lpstr>
      <vt:lpstr>第02章 電子商務安全</vt:lpstr>
      <vt:lpstr>2.1 電子商務簡介</vt:lpstr>
      <vt:lpstr>電子商務的本質</vt:lpstr>
      <vt:lpstr>PowerPoint 簡報</vt:lpstr>
      <vt:lpstr>2.2 電子商務特性</vt:lpstr>
      <vt:lpstr>2.3 電子商務種類</vt:lpstr>
      <vt:lpstr> 2.3.1 B2C電子商務</vt:lpstr>
      <vt:lpstr> 2.3.2 B2B電子商務</vt:lpstr>
      <vt:lpstr>2.3.3 C2B 電子商務</vt:lpstr>
      <vt:lpstr> 2.3.4 C2C電子商務</vt:lpstr>
      <vt:lpstr>2.3.5 O2O電子商務</vt:lpstr>
      <vt:lpstr>2.4 電子商務流程</vt:lpstr>
      <vt:lpstr>2.5 電子商務安全</vt:lpstr>
      <vt:lpstr>PowerPoint 簡報</vt:lpstr>
      <vt:lpstr>2.6 付款機制</vt:lpstr>
      <vt:lpstr>傳統付款機制</vt:lpstr>
      <vt:lpstr>線上付款機制</vt:lpstr>
      <vt:lpstr>PowerPoint 簡報</vt:lpstr>
      <vt:lpstr>虛擬帳號付款機制</vt:lpstr>
      <vt:lpstr>WebATM 網路櫃員機</vt:lpstr>
      <vt:lpstr>第三方支付</vt:lpstr>
      <vt:lpstr>密碼電子貨幣</vt:lpstr>
      <vt:lpstr>行動支付</vt:lpstr>
      <vt:lpstr>2.7 安全認證標章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電子商務安全</dc:title>
  <dc:creator>東光一號</dc:creator>
  <cp:lastModifiedBy>JJ Chiang</cp:lastModifiedBy>
  <cp:revision>64</cp:revision>
  <dcterms:created xsi:type="dcterms:W3CDTF">2016-02-13T15:00:38Z</dcterms:created>
  <dcterms:modified xsi:type="dcterms:W3CDTF">2026-03-09T14:19:34Z</dcterms:modified>
</cp:coreProperties>
</file>